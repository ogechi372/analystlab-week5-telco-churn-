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E9E9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120640"/>
            <a:ext cx="3291840" cy="3291840"/>
          </a:xfrm>
          <a:prstGeom prst="ellipse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CASE STUDY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customers leave — and what it takes to keep them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100584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Presentation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64008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6309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is losing a substantial share of its customer base — directly affecting revenue and long-term profitability.
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significantly more than retaining an existing one, making it critical to know who is at risk and why.
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 and service attributes are most strongly associated with churn — and what can the company do about it?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60920" y="1737360"/>
            <a:ext cx="4160520" cy="3291840"/>
          </a:xfrm>
          <a:prstGeom prst="roundRect">
            <a:avLst>
              <a:gd name="adj" fmla="val 3333"/>
            </a:avLst>
          </a:prstGeom>
          <a:solidFill>
            <a:srgbClr val="0F2027"/>
          </a:solidFill>
          <a:ln/>
          <a:effectLst>
            <a:outerShdw sx="100000" sy="100000" kx="0" ky="0" algn="bl" rotWithShape="0" blurRad="152400" dist="50800" dir="5400000">
              <a:srgbClr val="24303B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233172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26.6%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60920" y="33375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churned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0" y="3886200"/>
            <a:ext cx="1920240" cy="0"/>
          </a:xfrm>
          <a:prstGeom prst="line">
            <a:avLst/>
          </a:prstGeom>
          <a:noFill/>
          <a:ln w="12700">
            <a:solidFill>
              <a:srgbClr val="355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40690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E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 of 7,032 customers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E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the company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64008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5F8F9"/>
          </a:solidFill>
          <a:ln w="12700">
            <a:solidFill>
              <a:srgbClr val="E3E9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7,032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6002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5F8F9"/>
          </a:solidFill>
          <a:ln w="12700">
            <a:solidFill>
              <a:srgbClr val="E3E9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6517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/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5F8F9"/>
          </a:solidFill>
          <a:ln w="12700">
            <a:solidFill>
              <a:srgbClr val="E3E9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Records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840" y="16002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5F8F9"/>
          </a:solidFill>
          <a:ln w="12700">
            <a:solidFill>
              <a:srgbClr val="E3E9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06840" y="26517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covers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306824"/>
            <a:ext cx="100584" cy="100584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1422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 </a:t>
            </a:r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SeniorCitizen, Partner, Dependents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64024"/>
            <a:ext cx="100584" cy="100584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45994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Contract:  </a:t>
            </a:r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Contract, PaymentMethod, PaperlessBilling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221224"/>
            <a:ext cx="100584" cy="100584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0566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 </a:t>
            </a:r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InternetService, OnlineSecurity, TechSupport, StreamingTV/Movies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678424"/>
            <a:ext cx="100584" cy="100584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55138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Target:  </a:t>
            </a:r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MonthlyCharges, TotalCharges, Churn (Yes/No)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Visualization: Churn by Contract Type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64008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6263640" cy="4274820"/>
          </a:xfrm>
          <a:prstGeom prst="roundRect">
            <a:avLst>
              <a:gd name="adj" fmla="val 1711"/>
            </a:avLst>
          </a:prstGeom>
          <a:solidFill>
            <a:srgbClr val="FFFFFF"/>
          </a:solidFill>
          <a:ln w="12700">
            <a:solidFill>
              <a:srgbClr val="E3E9EB"/>
            </a:solidFill>
            <a:prstDash val="solid"/>
          </a:ln>
          <a:effectLst>
            <a:outerShdw sx="100000" sy="100000" kx="0" ky="0" algn="bl" rotWithShape="0" blurRad="127000" dist="38100" dir="5400000">
              <a:srgbClr val="24303B">
                <a:alpha val="18000"/>
              </a:srgbClr>
            </a:outerShdw>
          </a:effectLst>
        </p:spPr>
      </p:sp>
      <p:pic>
        <p:nvPicPr>
          <p:cNvPr id="5" name="Image 0" descr="/home/claude/charts/cell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989320" cy="4000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554480"/>
            <a:ext cx="3291840" cy="1965960"/>
          </a:xfrm>
          <a:prstGeom prst="roundRect">
            <a:avLst>
              <a:gd name="adj" fmla="val 4651"/>
            </a:avLst>
          </a:prstGeom>
          <a:solidFill>
            <a:srgbClr val="0F2027"/>
          </a:solidFill>
          <a:ln/>
        </p:spPr>
      </p:sp>
      <p:sp>
        <p:nvSpPr>
          <p:cNvPr id="7" name="Text 4"/>
          <p:cNvSpPr/>
          <p:nvPr/>
        </p:nvSpPr>
        <p:spPr>
          <a:xfrm>
            <a:off x="8275320" y="17556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503920" y="2560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the churn gap between month-to-month and longer-term contracts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75320" y="3703320"/>
            <a:ext cx="3291840" cy="2423160"/>
          </a:xfrm>
          <a:prstGeom prst="roundRect">
            <a:avLst>
              <a:gd name="adj" fmla="val 3774"/>
            </a:avLst>
          </a:prstGeom>
          <a:solidFill>
            <a:srgbClr val="F5F8F9"/>
          </a:solidFill>
          <a:ln w="12700">
            <a:solidFill>
              <a:srgbClr val="E3E9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03920" y="4206240"/>
            <a:ext cx="2834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far more than one-year or two-year customers. Two-year contracts are the most stable segment — contract length is a strong retention lever.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Visualization: Churn by Internet Service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64008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6263640" cy="4274820"/>
          </a:xfrm>
          <a:prstGeom prst="roundRect">
            <a:avLst>
              <a:gd name="adj" fmla="val 1711"/>
            </a:avLst>
          </a:prstGeom>
          <a:solidFill>
            <a:srgbClr val="FFFFFF"/>
          </a:solidFill>
          <a:ln w="12700">
            <a:solidFill>
              <a:srgbClr val="E3E9EB"/>
            </a:solidFill>
            <a:prstDash val="solid"/>
          </a:ln>
          <a:effectLst>
            <a:outerShdw sx="100000" sy="100000" kx="0" ky="0" algn="bl" rotWithShape="0" blurRad="127000" dist="38100" dir="5400000">
              <a:srgbClr val="24303B">
                <a:alpha val="18000"/>
              </a:srgbClr>
            </a:outerShdw>
          </a:effectLst>
        </p:spPr>
      </p:sp>
      <p:pic>
        <p:nvPicPr>
          <p:cNvPr id="5" name="Image 0" descr="/home/claude/charts/cell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989320" cy="4000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554480"/>
            <a:ext cx="3291840" cy="1965960"/>
          </a:xfrm>
          <a:prstGeom prst="roundRect">
            <a:avLst>
              <a:gd name="adj" fmla="val 4651"/>
            </a:avLst>
          </a:prstGeom>
          <a:solidFill>
            <a:srgbClr val="0F2027"/>
          </a:solidFill>
          <a:ln/>
        </p:spPr>
      </p:sp>
      <p:sp>
        <p:nvSpPr>
          <p:cNvPr id="7" name="Text 4"/>
          <p:cNvSpPr/>
          <p:nvPr/>
        </p:nvSpPr>
        <p:spPr>
          <a:xfrm>
            <a:off x="8275320" y="17556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503920" y="2560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is the highest-churn service segment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75320" y="3703320"/>
            <a:ext cx="3291840" cy="2423160"/>
          </a:xfrm>
          <a:prstGeom prst="roundRect">
            <a:avLst>
              <a:gd name="adj" fmla="val 3774"/>
            </a:avLst>
          </a:prstGeom>
          <a:solidFill>
            <a:srgbClr val="F5F8F9"/>
          </a:solidFill>
          <a:ln w="12700">
            <a:solidFill>
              <a:srgbClr val="E3E9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03920" y="4206240"/>
            <a:ext cx="2834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 churn the most, DSL customers churn less, and customers with no internet service churn the least — pointing to a price/value gap in Fiber Optic.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Visualization: Monthly Charges by Churn Status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64008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6172200" cy="4261104"/>
          </a:xfrm>
          <a:prstGeom prst="roundRect">
            <a:avLst>
              <a:gd name="adj" fmla="val 1717"/>
            </a:avLst>
          </a:prstGeom>
          <a:solidFill>
            <a:srgbClr val="FFFFFF"/>
          </a:solidFill>
          <a:ln w="12700">
            <a:solidFill>
              <a:srgbClr val="E3E9EB"/>
            </a:solidFill>
            <a:prstDash val="solid"/>
          </a:ln>
          <a:effectLst>
            <a:outerShdw sx="100000" sy="100000" kx="0" ky="0" algn="bl" rotWithShape="0" blurRad="127000" dist="38100" dir="5400000">
              <a:srgbClr val="24303B">
                <a:alpha val="18000"/>
              </a:srgbClr>
            </a:outerShdw>
          </a:effectLst>
        </p:spPr>
      </p:sp>
      <p:pic>
        <p:nvPicPr>
          <p:cNvPr id="5" name="Image 0" descr="/home/claude/charts/cell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897880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554480"/>
            <a:ext cx="3291840" cy="1965960"/>
          </a:xfrm>
          <a:prstGeom prst="roundRect">
            <a:avLst>
              <a:gd name="adj" fmla="val 4651"/>
            </a:avLst>
          </a:prstGeom>
          <a:solidFill>
            <a:srgbClr val="0F2027"/>
          </a:solidFill>
          <a:ln/>
        </p:spPr>
      </p:sp>
      <p:sp>
        <p:nvSpPr>
          <p:cNvPr id="7" name="Text 4"/>
          <p:cNvSpPr/>
          <p:nvPr/>
        </p:nvSpPr>
        <p:spPr>
          <a:xfrm>
            <a:off x="8275320" y="17556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503920" y="2560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~$65 median charge for retained customers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75320" y="3703320"/>
            <a:ext cx="3291840" cy="2423160"/>
          </a:xfrm>
          <a:prstGeom prst="roundRect">
            <a:avLst>
              <a:gd name="adj" fmla="val 3774"/>
            </a:avLst>
          </a:prstGeom>
          <a:solidFill>
            <a:srgbClr val="F5F8F9"/>
          </a:solidFill>
          <a:ln w="12700">
            <a:solidFill>
              <a:srgbClr val="E3E9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03920" y="4206240"/>
            <a:ext cx="2834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have a higher median monthly charge (~$80) than retained customers (~$65) — higher bills track with a greater likelihood of leaving.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64008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58191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 is 26.6%  —  </a:t>
            </a:r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 of 7,032 customers left the company.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202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4505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is not a meaningful driver  —  </a:t>
            </a:r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behavior is nearly identical between male and female customers.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319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service type matter most  —  </a:t>
            </a:r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and Fiber Optic internet show the highest churn.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202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1879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pay more  —  </a:t>
            </a:r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Monthly Charges: ~$80 (churned) vs. ~$65 (retained).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5056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risk is independent of tenure  —  </a:t>
            </a:r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and MonthlyCharges are only weakly correlated (0.25) — high bills aren't just a newer-customer effect.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64008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5F8F9"/>
          </a:solidFill>
          <a:ln w="12700">
            <a:solidFill>
              <a:srgbClr val="E3E9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Contract Upgrades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discounts, loyalty rewards, or bundles to move month-to-month customers to 1- or 2-year plans.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5F8F9"/>
          </a:solidFill>
          <a:ln w="12700">
            <a:solidFill>
              <a:srgbClr val="E3E9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8562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Early-Lifecycle Retention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46888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onboarding, welcome offers, and proactive check-ins in the first six months.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5F8F9"/>
          </a:solidFill>
          <a:ln w="12700">
            <a:solidFill>
              <a:srgbClr val="E3E9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09651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Fiber Optic Service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satisfaction surveys and quality audits to resolve the root causes of high Fiber Optic churn.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5F8F9"/>
          </a:solidFill>
          <a:ln w="12700">
            <a:solidFill>
              <a:srgbClr val="E3E9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11480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409651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High-Bill Customers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70916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reach out to customers paying above ~$70/month with value-reinforcing offers.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solidFill>
            <a:srgbClr val="2E9E9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2926080" cy="2926080"/>
          </a:xfrm>
          <a:prstGeom prst="ellipse">
            <a:avLst/>
          </a:prstGeom>
          <a:solidFill>
            <a:srgbClr val="FF6B6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 driven mainly by contract flexibility, service type, and pricing — not demographics.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highest-risk segment: short-tenure, month-to-month, Fiber Optic customers paying higher monthly bills. A retention strategy focused on these levers — contract upgrades, early onboarding, Fiber Optic service quality, and high-bill outreach — offers a clear, data-driven path to reducing churn and protecting revenue.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100584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2026-07-20T11:33:41Z</dcterms:created>
  <dcterms:modified xsi:type="dcterms:W3CDTF">2026-07-20T11:33:41Z</dcterms:modified>
</cp:coreProperties>
</file>